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71" r:id="rId5"/>
    <p:sldId id="257" r:id="rId6"/>
    <p:sldId id="258" r:id="rId7"/>
    <p:sldId id="259" r:id="rId8"/>
    <p:sldId id="260" r:id="rId9"/>
    <p:sldId id="261" r:id="rId10"/>
    <p:sldId id="263" r:id="rId11"/>
    <p:sldId id="264" r:id="rId12"/>
    <p:sldId id="265" r:id="rId13"/>
    <p:sldId id="267" r:id="rId14"/>
    <p:sldId id="268" r:id="rId15"/>
    <p:sldId id="270"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5/15/2026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5/15/2026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718640-BEB5-4790-18FC-17A8C9A6B5C3}"/>
              </a:ext>
            </a:extLst>
          </p:cNvPr>
          <p:cNvSpPr txBox="1"/>
          <p:nvPr/>
        </p:nvSpPr>
        <p:spPr>
          <a:xfrm>
            <a:off x="718457" y="1178158"/>
            <a:ext cx="7707085" cy="5143075"/>
          </a:xfrm>
          <a:prstGeom prst="rect">
            <a:avLst/>
          </a:prstGeom>
          <a:noFill/>
        </p:spPr>
        <p:txBody>
          <a:bodyPr wrap="square">
            <a:sp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18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400" i="1" spc="-1" dirty="0">
                <a:latin typeface="Times New Roman" panose="02020603050405020304" pitchFamily="18" charset="0"/>
                <a:ea typeface="Calibri" panose="020F0502020204030204" pitchFamily="34" charset="0"/>
                <a:cs typeface="Times New Roman" panose="02020603050405020304" pitchFamily="18" charset="0"/>
              </a:rPr>
              <a:t>Scribbly</a:t>
            </a:r>
            <a:endParaRPr lang="en-US" sz="18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18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b="0" strike="noStrike" spc="-1" dirty="0">
                <a:solidFill>
                  <a:srgbClr val="000000"/>
                </a:solidFill>
                <a:latin typeface="Times New Roman" panose="02020603050405020304" pitchFamily="18" charset="0"/>
                <a:ea typeface="MS PGothic"/>
                <a:cs typeface="Times New Roman" panose="02020603050405020304" pitchFamily="18" charset="0"/>
              </a:rPr>
              <a:t>Yashasvi Dixit</a:t>
            </a:r>
          </a:p>
          <a:p>
            <a:pPr algn="ctr">
              <a:lnSpc>
                <a:spcPct val="100000"/>
              </a:lnSpc>
              <a:spcBef>
                <a:spcPts val="400"/>
              </a:spcBef>
            </a:pPr>
            <a:r>
              <a:rPr lang="en-US" sz="1800" b="0" strike="noStrike" spc="-1" dirty="0">
                <a:solidFill>
                  <a:srgbClr val="000000"/>
                </a:solidFill>
                <a:latin typeface="Times New Roman" panose="02020603050405020304" pitchFamily="18" charset="0"/>
                <a:ea typeface="MS PGothic"/>
                <a:cs typeface="Times New Roman" panose="02020603050405020304" pitchFamily="18" charset="0"/>
              </a:rPr>
              <a:t>2211981473</a:t>
            </a:r>
            <a:endParaRPr lang="en-US" sz="18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8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18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1800" spc="-1" dirty="0">
                <a:latin typeface="Times New Roman" panose="02020603050405020304" pitchFamily="18" charset="0"/>
                <a:ea typeface="MS PGothic"/>
                <a:cs typeface="Times New Roman" panose="02020603050405020304" pitchFamily="18" charset="0"/>
              </a:rPr>
              <a:t>Dr. </a:t>
            </a:r>
            <a:r>
              <a:rPr lang="en-US" spc="-1" dirty="0">
                <a:latin typeface="Times New Roman" panose="02020603050405020304" pitchFamily="18" charset="0"/>
                <a:ea typeface="MS PGothic"/>
                <a:cs typeface="Times New Roman" panose="02020603050405020304" pitchFamily="18" charset="0"/>
              </a:rPr>
              <a:t>Rajat </a:t>
            </a:r>
            <a:r>
              <a:rPr lang="en-US" spc="-1" dirty="0" err="1">
                <a:latin typeface="Times New Roman" panose="02020603050405020304" pitchFamily="18" charset="0"/>
                <a:ea typeface="MS PGothic"/>
                <a:cs typeface="Times New Roman" panose="02020603050405020304" pitchFamily="18" charset="0"/>
              </a:rPr>
              <a:t>Takkar</a:t>
            </a: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a:t>
            </a:r>
            <a:r>
              <a:rPr lang="en-US" sz="20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0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1800" b="0" strike="noStrike" spc="-1" dirty="0">
              <a:solidFill>
                <a:srgbClr val="000000"/>
              </a:solidFill>
              <a:latin typeface="Calibri"/>
            </a:endParaRPr>
          </a:p>
        </p:txBody>
      </p:sp>
    </p:spTree>
    <p:extLst>
      <p:ext uri="{BB962C8B-B14F-4D97-AF65-F5344CB8AC3E}">
        <p14:creationId xmlns:p14="http://schemas.microsoft.com/office/powerpoint/2010/main" val="3357811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280160"/>
            <a:ext cx="2573140" cy="584775"/>
          </a:xfrm>
          <a:prstGeom prst="rect">
            <a:avLst/>
          </a:prstGeom>
          <a:noFill/>
        </p:spPr>
        <p:txBody>
          <a:bodyPr wrap="none">
            <a:spAutoFit/>
          </a:bodyPr>
          <a:lstStyle/>
          <a:p>
            <a:pPr>
              <a:defRPr sz="2200" b="1"/>
            </a:pPr>
            <a:r>
              <a:rPr sz="3200" dirty="0"/>
              <a:t>Introduction</a:t>
            </a:r>
          </a:p>
        </p:txBody>
      </p:sp>
      <p:sp>
        <p:nvSpPr>
          <p:cNvPr id="3" name="TextBox 2"/>
          <p:cNvSpPr txBox="1"/>
          <p:nvPr/>
        </p:nvSpPr>
        <p:spPr>
          <a:xfrm>
            <a:off x="731520" y="2198914"/>
            <a:ext cx="7726680" cy="2862322"/>
          </a:xfrm>
          <a:prstGeom prst="rect">
            <a:avLst/>
          </a:prstGeom>
          <a:noFill/>
        </p:spPr>
        <p:txBody>
          <a:bodyPr wrap="square">
            <a:spAutoFit/>
          </a:bodyPr>
          <a:lstStyle/>
          <a:p>
            <a:r>
              <a:rPr lang="en-US" dirty="0"/>
              <a:t>Scribbly is a blogging platform inspired by Medium that allows users to write, publish, and manage posts online. </a:t>
            </a:r>
          </a:p>
          <a:p>
            <a:endParaRPr lang="en-US" dirty="0"/>
          </a:p>
          <a:p>
            <a:r>
              <a:rPr lang="en-US" dirty="0"/>
              <a:t>• Users can sign up / log in securely. </a:t>
            </a:r>
          </a:p>
          <a:p>
            <a:endParaRPr lang="en-US" dirty="0"/>
          </a:p>
          <a:p>
            <a:r>
              <a:rPr lang="en-US" dirty="0"/>
              <a:t>• Authenticated users can create, update, and delete posts.</a:t>
            </a:r>
          </a:p>
          <a:p>
            <a:endParaRPr lang="en-US" dirty="0"/>
          </a:p>
          <a:p>
            <a:r>
              <a:rPr lang="en-US" dirty="0"/>
              <a:t> • Readers can browse published articles in a feed. </a:t>
            </a:r>
          </a:p>
          <a:p>
            <a:endParaRPr lang="en-US" dirty="0"/>
          </a:p>
          <a:p>
            <a:r>
              <a:rPr lang="en-US" dirty="0"/>
              <a:t>• JWT-based authentication ensures secure session management</a:t>
            </a:r>
            <a:endParaRPr dirty="0">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280160"/>
            <a:ext cx="3921266" cy="584775"/>
          </a:xfrm>
          <a:prstGeom prst="rect">
            <a:avLst/>
          </a:prstGeom>
          <a:noFill/>
        </p:spPr>
        <p:txBody>
          <a:bodyPr wrap="none">
            <a:spAutoFit/>
          </a:bodyPr>
          <a:lstStyle/>
          <a:p>
            <a:pPr>
              <a:defRPr sz="2200" b="1"/>
            </a:pPr>
            <a:r>
              <a:rPr sz="3200" dirty="0"/>
              <a:t>Problem Statement</a:t>
            </a:r>
          </a:p>
        </p:txBody>
      </p:sp>
      <p:sp>
        <p:nvSpPr>
          <p:cNvPr id="3" name="TextBox 2"/>
          <p:cNvSpPr txBox="1"/>
          <p:nvPr/>
        </p:nvSpPr>
        <p:spPr>
          <a:xfrm>
            <a:off x="685800" y="2172789"/>
            <a:ext cx="7772400" cy="1200329"/>
          </a:xfrm>
          <a:prstGeom prst="rect">
            <a:avLst/>
          </a:prstGeom>
          <a:noFill/>
        </p:spPr>
        <p:txBody>
          <a:bodyPr wrap="square">
            <a:spAutoFit/>
          </a:bodyPr>
          <a:lstStyle/>
          <a:p>
            <a:r>
              <a:rPr lang="en-US" dirty="0"/>
              <a:t>Scribbly is a modern blogging platform that solves the problem of cluttered and distracting content publishing by providing writers with a clean space to create, publish, and share high-quality articles while helping readers easily discover meaningful content.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9970" y="1280160"/>
            <a:ext cx="2318659" cy="584775"/>
          </a:xfrm>
          <a:prstGeom prst="rect">
            <a:avLst/>
          </a:prstGeom>
          <a:noFill/>
        </p:spPr>
        <p:txBody>
          <a:bodyPr wrap="square">
            <a:spAutoFit/>
          </a:bodyPr>
          <a:lstStyle/>
          <a:p>
            <a:pPr>
              <a:defRPr sz="2200" b="1"/>
            </a:pPr>
            <a:r>
              <a:rPr sz="3200" dirty="0" err="1"/>
              <a:t>Objectiv</a:t>
            </a:r>
            <a:r>
              <a:rPr lang="en-IN" sz="3200" dirty="0"/>
              <a:t>es</a:t>
            </a:r>
            <a:endParaRPr sz="3200" dirty="0"/>
          </a:p>
        </p:txBody>
      </p:sp>
      <p:sp>
        <p:nvSpPr>
          <p:cNvPr id="3" name="TextBox 2"/>
          <p:cNvSpPr txBox="1"/>
          <p:nvPr/>
        </p:nvSpPr>
        <p:spPr>
          <a:xfrm>
            <a:off x="777240" y="2183675"/>
            <a:ext cx="7772400" cy="1477328"/>
          </a:xfrm>
          <a:prstGeom prst="rect">
            <a:avLst/>
          </a:prstGeom>
          <a:noFill/>
        </p:spPr>
        <p:txBody>
          <a:bodyPr wrap="square">
            <a:spAutoFit/>
          </a:bodyPr>
          <a:lstStyle/>
          <a:p>
            <a:r>
              <a:rPr lang="en-US" dirty="0"/>
              <a:t>The objective of Scribbly is to build a user-friendly blogging platform using the MERN stack.</a:t>
            </a:r>
          </a:p>
          <a:p>
            <a:r>
              <a:rPr lang="en-US" dirty="0"/>
              <a:t>It demonstrates full-stack development with features like user authentication, post creation, updating, deletion, and content display, while ensuring modular design and deployment for future scalability.</a:t>
            </a:r>
            <a:endParaRPr dirty="0">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5320" y="1378132"/>
            <a:ext cx="4378122" cy="584775"/>
          </a:xfrm>
          <a:prstGeom prst="rect">
            <a:avLst/>
          </a:prstGeom>
          <a:noFill/>
        </p:spPr>
        <p:txBody>
          <a:bodyPr wrap="none">
            <a:spAutoFit/>
          </a:bodyPr>
          <a:lstStyle/>
          <a:p>
            <a:pPr>
              <a:defRPr sz="2200" b="1"/>
            </a:pPr>
            <a:r>
              <a:rPr sz="3200" dirty="0"/>
              <a:t>Tools &amp; Technologies</a:t>
            </a:r>
          </a:p>
        </p:txBody>
      </p:sp>
      <p:sp>
        <p:nvSpPr>
          <p:cNvPr id="3" name="TextBox 2"/>
          <p:cNvSpPr txBox="1"/>
          <p:nvPr/>
        </p:nvSpPr>
        <p:spPr>
          <a:xfrm>
            <a:off x="716280" y="1953763"/>
            <a:ext cx="7772400" cy="3139321"/>
          </a:xfrm>
          <a:prstGeom prst="rect">
            <a:avLst/>
          </a:prstGeom>
          <a:noFill/>
        </p:spPr>
        <p:txBody>
          <a:bodyPr wrap="square">
            <a:spAutoFit/>
          </a:bodyPr>
          <a:lstStyle/>
          <a:p>
            <a:pPr algn="l"/>
            <a:r>
              <a:rPr dirty="0">
                <a:latin typeface="Times New Roman"/>
              </a:rPr>
              <a:t>Backend Technologies:</a:t>
            </a:r>
          </a:p>
          <a:p>
            <a:pPr algn="l"/>
            <a:r>
              <a:rPr lang="en-US" dirty="0">
                <a:latin typeface="Times New Roman"/>
              </a:rPr>
              <a:t>• Nodejs + </a:t>
            </a:r>
            <a:r>
              <a:rPr lang="en-US" dirty="0" err="1">
                <a:latin typeface="Times New Roman"/>
              </a:rPr>
              <a:t>Expressjs</a:t>
            </a:r>
            <a:endParaRPr lang="en-US" dirty="0">
              <a:latin typeface="Times New Roman"/>
            </a:endParaRPr>
          </a:p>
          <a:p>
            <a:pPr algn="l"/>
            <a:r>
              <a:rPr lang="en-US" dirty="0">
                <a:latin typeface="Times New Roman"/>
              </a:rPr>
              <a:t>• MongoDB Database</a:t>
            </a:r>
            <a:endParaRPr dirty="0">
              <a:latin typeface="Times New Roman"/>
            </a:endParaRPr>
          </a:p>
          <a:p>
            <a:pPr algn="l"/>
            <a:r>
              <a:rPr dirty="0">
                <a:latin typeface="Times New Roman"/>
              </a:rPr>
              <a:t>• Multer for file uploads</a:t>
            </a:r>
          </a:p>
          <a:p>
            <a:pPr algn="l"/>
            <a:endParaRPr dirty="0">
              <a:latin typeface="Times New Roman"/>
            </a:endParaRPr>
          </a:p>
          <a:p>
            <a:pPr algn="l"/>
            <a:r>
              <a:rPr dirty="0">
                <a:latin typeface="Times New Roman"/>
              </a:rPr>
              <a:t>Frontend Technologies:</a:t>
            </a:r>
          </a:p>
          <a:p>
            <a:pPr algn="l"/>
            <a:r>
              <a:rPr dirty="0">
                <a:latin typeface="Times New Roman"/>
              </a:rPr>
              <a:t>• </a:t>
            </a:r>
            <a:r>
              <a:rPr lang="en-US" dirty="0" err="1">
                <a:latin typeface="Times New Roman"/>
              </a:rPr>
              <a:t>Reactjs</a:t>
            </a:r>
            <a:endParaRPr dirty="0">
              <a:latin typeface="Times New Roman"/>
            </a:endParaRPr>
          </a:p>
          <a:p>
            <a:pPr algn="l"/>
            <a:endParaRPr dirty="0">
              <a:latin typeface="Times New Roman"/>
            </a:endParaRPr>
          </a:p>
          <a:p>
            <a:pPr algn="l"/>
            <a:r>
              <a:rPr dirty="0">
                <a:latin typeface="Times New Roman"/>
              </a:rPr>
              <a:t>Other Tools:</a:t>
            </a:r>
          </a:p>
          <a:p>
            <a:pPr algn="l"/>
            <a:r>
              <a:rPr dirty="0">
                <a:latin typeface="Times New Roman"/>
              </a:rPr>
              <a:t>• Git &amp; GitHub</a:t>
            </a:r>
          </a:p>
          <a:p>
            <a:pPr algn="l"/>
            <a:r>
              <a:rPr dirty="0">
                <a:latin typeface="Times New Roman"/>
              </a:rPr>
              <a:t>• VS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4583" y="1280160"/>
            <a:ext cx="4143011" cy="584775"/>
          </a:xfrm>
          <a:prstGeom prst="rect">
            <a:avLst/>
          </a:prstGeom>
          <a:noFill/>
        </p:spPr>
        <p:txBody>
          <a:bodyPr wrap="square">
            <a:spAutoFit/>
          </a:bodyPr>
          <a:lstStyle/>
          <a:p>
            <a:pPr>
              <a:defRPr sz="2200" b="1"/>
            </a:pPr>
            <a:r>
              <a:rPr sz="3200" dirty="0"/>
              <a:t>System Architecture</a:t>
            </a:r>
          </a:p>
        </p:txBody>
      </p:sp>
      <p:sp>
        <p:nvSpPr>
          <p:cNvPr id="3" name="TextBox 2"/>
          <p:cNvSpPr txBox="1"/>
          <p:nvPr/>
        </p:nvSpPr>
        <p:spPr>
          <a:xfrm>
            <a:off x="744583" y="2151017"/>
            <a:ext cx="7772400" cy="2862322"/>
          </a:xfrm>
          <a:prstGeom prst="rect">
            <a:avLst/>
          </a:prstGeom>
          <a:noFill/>
        </p:spPr>
        <p:txBody>
          <a:bodyPr wrap="square">
            <a:spAutoFit/>
          </a:bodyPr>
          <a:lstStyle/>
          <a:p>
            <a:pPr algn="l"/>
            <a:r>
              <a:rPr dirty="0">
                <a:latin typeface="Times New Roman"/>
              </a:rPr>
              <a:t>The system follows a client-server architecture.</a:t>
            </a:r>
          </a:p>
          <a:p>
            <a:pPr algn="l"/>
            <a:endParaRPr dirty="0">
              <a:latin typeface="Times New Roman"/>
            </a:endParaRPr>
          </a:p>
          <a:p>
            <a:pPr algn="l"/>
            <a:r>
              <a:rPr dirty="0">
                <a:latin typeface="Times New Roman"/>
              </a:rPr>
              <a:t>Frontend:</a:t>
            </a:r>
          </a:p>
          <a:p>
            <a:pPr algn="l"/>
            <a:r>
              <a:rPr dirty="0">
                <a:latin typeface="Times New Roman"/>
              </a:rPr>
              <a:t>The frontend is developed using </a:t>
            </a:r>
            <a:r>
              <a:rPr lang="en-US" dirty="0" err="1">
                <a:latin typeface="Times New Roman"/>
              </a:rPr>
              <a:t>Reactjs</a:t>
            </a:r>
            <a:r>
              <a:rPr lang="en-US" dirty="0">
                <a:latin typeface="Times New Roman"/>
              </a:rPr>
              <a:t> </a:t>
            </a:r>
            <a:r>
              <a:rPr dirty="0">
                <a:latin typeface="Times New Roman"/>
              </a:rPr>
              <a:t>to provide an interactive user interface.</a:t>
            </a:r>
          </a:p>
          <a:p>
            <a:pPr algn="l"/>
            <a:endParaRPr dirty="0">
              <a:latin typeface="Times New Roman"/>
            </a:endParaRPr>
          </a:p>
          <a:p>
            <a:pPr algn="l"/>
            <a:r>
              <a:rPr dirty="0">
                <a:latin typeface="Times New Roman"/>
              </a:rPr>
              <a:t>Backend:</a:t>
            </a:r>
          </a:p>
          <a:p>
            <a:pPr algn="l"/>
            <a:r>
              <a:rPr dirty="0">
                <a:latin typeface="Times New Roman"/>
              </a:rPr>
              <a:t>N</a:t>
            </a:r>
            <a:r>
              <a:rPr lang="en-US" dirty="0">
                <a:latin typeface="Times New Roman"/>
              </a:rPr>
              <a:t>ode</a:t>
            </a:r>
            <a:r>
              <a:rPr dirty="0">
                <a:latin typeface="Times New Roman"/>
              </a:rPr>
              <a:t>JS is used to create RESTful APIs and handle business logic.</a:t>
            </a:r>
          </a:p>
          <a:p>
            <a:pPr algn="l"/>
            <a:endParaRPr dirty="0">
              <a:latin typeface="Times New Roman"/>
            </a:endParaRPr>
          </a:p>
          <a:p>
            <a:pPr algn="l"/>
            <a:r>
              <a:rPr dirty="0">
                <a:latin typeface="Times New Roman"/>
              </a:rPr>
              <a:t>Database:</a:t>
            </a:r>
          </a:p>
          <a:p>
            <a:pPr algn="l"/>
            <a:r>
              <a:rPr lang="en-US" dirty="0">
                <a:latin typeface="Times New Roman"/>
              </a:rPr>
              <a:t>MongoDB</a:t>
            </a:r>
            <a:r>
              <a:rPr dirty="0">
                <a:latin typeface="Times New Roman"/>
              </a:rPr>
              <a:t> is integrated</a:t>
            </a:r>
            <a:r>
              <a:rPr lang="en-US" dirty="0">
                <a:latin typeface="Times New Roman"/>
              </a:rPr>
              <a:t> </a:t>
            </a:r>
            <a:r>
              <a:rPr dirty="0">
                <a:latin typeface="Times New Roman"/>
              </a:rPr>
              <a:t>for efficient data management</a:t>
            </a:r>
            <a:r>
              <a:rPr sz="1700" dirty="0">
                <a:latin typeface="Times New Roman"/>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280160"/>
            <a:ext cx="2757486" cy="584775"/>
          </a:xfrm>
          <a:prstGeom prst="rect">
            <a:avLst/>
          </a:prstGeom>
          <a:noFill/>
        </p:spPr>
        <p:txBody>
          <a:bodyPr wrap="none">
            <a:spAutoFit/>
          </a:bodyPr>
          <a:lstStyle/>
          <a:p>
            <a:pPr>
              <a:defRPr sz="2200" b="1"/>
            </a:pPr>
            <a:r>
              <a:rPr sz="3200" dirty="0"/>
              <a:t>Key Features</a:t>
            </a:r>
          </a:p>
        </p:txBody>
      </p:sp>
      <p:sp>
        <p:nvSpPr>
          <p:cNvPr id="3" name="TextBox 2"/>
          <p:cNvSpPr txBox="1"/>
          <p:nvPr/>
        </p:nvSpPr>
        <p:spPr>
          <a:xfrm>
            <a:off x="731520" y="2031274"/>
            <a:ext cx="7772400" cy="2031325"/>
          </a:xfrm>
          <a:prstGeom prst="rect">
            <a:avLst/>
          </a:prstGeom>
          <a:noFill/>
        </p:spPr>
        <p:txBody>
          <a:bodyPr wrap="square">
            <a:spAutoFit/>
          </a:bodyPr>
          <a:lstStyle/>
          <a:p>
            <a:pPr marL="285750" indent="-285750">
              <a:buFont typeface="Arial" panose="020B0604020202020204" pitchFamily="34" charset="0"/>
              <a:buChar char="•"/>
            </a:pPr>
            <a:r>
              <a:rPr lang="en-US" dirty="0"/>
              <a:t>User Authentication Signup and login with secure JWT-based authentication.</a:t>
            </a:r>
          </a:p>
          <a:p>
            <a:endParaRPr lang="en-US" dirty="0"/>
          </a:p>
          <a:p>
            <a:r>
              <a:rPr lang="en-US" dirty="0"/>
              <a:t> • Post Management (CRUD) Create new blog posts with title &amp; content.</a:t>
            </a:r>
          </a:p>
          <a:p>
            <a:endParaRPr lang="en-US" dirty="0"/>
          </a:p>
          <a:p>
            <a:r>
              <a:rPr lang="en-US" dirty="0"/>
              <a:t> • Responsive UI- Clean, modern, mobile-friendly interface built with React &amp; Tailwind CSS</a:t>
            </a:r>
            <a:endParaRPr dirty="0">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378131"/>
            <a:ext cx="7252063" cy="584775"/>
          </a:xfrm>
          <a:prstGeom prst="rect">
            <a:avLst/>
          </a:prstGeom>
          <a:noFill/>
        </p:spPr>
        <p:txBody>
          <a:bodyPr wrap="square">
            <a:spAutoFit/>
          </a:bodyPr>
          <a:lstStyle/>
          <a:p>
            <a:pPr>
              <a:defRPr sz="2200" b="1"/>
            </a:pPr>
            <a:r>
              <a:rPr sz="3200"/>
              <a:t>Implementation</a:t>
            </a:r>
          </a:p>
        </p:txBody>
      </p:sp>
      <p:sp>
        <p:nvSpPr>
          <p:cNvPr id="3" name="TextBox 2"/>
          <p:cNvSpPr txBox="1"/>
          <p:nvPr/>
        </p:nvSpPr>
        <p:spPr>
          <a:xfrm>
            <a:off x="731520" y="2413337"/>
            <a:ext cx="7772400" cy="2031325"/>
          </a:xfrm>
          <a:prstGeom prst="rect">
            <a:avLst/>
          </a:prstGeom>
          <a:noFill/>
        </p:spPr>
        <p:txBody>
          <a:bodyPr wrap="square">
            <a:spAutoFit/>
          </a:bodyPr>
          <a:lstStyle/>
          <a:p>
            <a:pPr algn="l"/>
            <a:r>
              <a:rPr dirty="0">
                <a:latin typeface="Times New Roman"/>
              </a:rPr>
              <a:t>The backend APIs were developed using N</a:t>
            </a:r>
            <a:r>
              <a:rPr lang="en-US" dirty="0">
                <a:latin typeface="Times New Roman"/>
              </a:rPr>
              <a:t>odeJ</a:t>
            </a:r>
            <a:r>
              <a:rPr dirty="0">
                <a:latin typeface="Times New Roman"/>
              </a:rPr>
              <a:t>S and connected with </a:t>
            </a:r>
            <a:r>
              <a:rPr lang="en-US" dirty="0">
                <a:latin typeface="Times New Roman"/>
              </a:rPr>
              <a:t>MongoDB</a:t>
            </a:r>
            <a:r>
              <a:rPr dirty="0">
                <a:latin typeface="Times New Roman"/>
              </a:rPr>
              <a:t>.</a:t>
            </a:r>
          </a:p>
          <a:p>
            <a:pPr algn="l"/>
            <a:endParaRPr dirty="0">
              <a:latin typeface="Times New Roman"/>
            </a:endParaRPr>
          </a:p>
          <a:p>
            <a:pPr algn="l"/>
            <a:r>
              <a:rPr dirty="0">
                <a:latin typeface="Times New Roman"/>
              </a:rPr>
              <a:t>Frontend pages were designed using </a:t>
            </a:r>
            <a:r>
              <a:rPr lang="en-US" dirty="0" err="1">
                <a:latin typeface="Times New Roman"/>
              </a:rPr>
              <a:t>Reactjs</a:t>
            </a:r>
            <a:r>
              <a:rPr lang="en-US" dirty="0">
                <a:latin typeface="Times New Roman"/>
              </a:rPr>
              <a:t> components</a:t>
            </a:r>
            <a:r>
              <a:rPr dirty="0">
                <a:latin typeface="Times New Roman"/>
              </a:rPr>
              <a:t>.</a:t>
            </a:r>
          </a:p>
          <a:p>
            <a:pPr algn="l"/>
            <a:endParaRPr dirty="0">
              <a:latin typeface="Times New Roman"/>
            </a:endParaRPr>
          </a:p>
          <a:p>
            <a:pPr algn="l"/>
            <a:r>
              <a:rPr dirty="0">
                <a:latin typeface="Times New Roman"/>
              </a:rPr>
              <a:t>Secure authentication, </a:t>
            </a:r>
            <a:r>
              <a:rPr lang="en-US" dirty="0">
                <a:latin typeface="Times New Roman"/>
              </a:rPr>
              <a:t>post</a:t>
            </a:r>
            <a:r>
              <a:rPr dirty="0">
                <a:latin typeface="Times New Roman"/>
              </a:rPr>
              <a:t> management, and </a:t>
            </a:r>
            <a:r>
              <a:rPr lang="en-US" dirty="0">
                <a:latin typeface="Times New Roman"/>
              </a:rPr>
              <a:t>user </a:t>
            </a:r>
            <a:r>
              <a:rPr dirty="0">
                <a:latin typeface="Times New Roman"/>
              </a:rPr>
              <a:t>features were implemented successfully.</a:t>
            </a:r>
          </a:p>
          <a:p>
            <a:pPr algn="l"/>
            <a:endParaRPr dirty="0">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280160"/>
            <a:ext cx="4992649" cy="584775"/>
          </a:xfrm>
          <a:prstGeom prst="rect">
            <a:avLst/>
          </a:prstGeom>
          <a:noFill/>
        </p:spPr>
        <p:txBody>
          <a:bodyPr wrap="none">
            <a:spAutoFit/>
          </a:bodyPr>
          <a:lstStyle/>
          <a:p>
            <a:pPr>
              <a:defRPr sz="2200" b="1"/>
            </a:pPr>
            <a:r>
              <a:rPr sz="3200" dirty="0"/>
              <a:t>Workflow</a:t>
            </a:r>
            <a:r>
              <a:rPr dirty="0"/>
              <a:t> </a:t>
            </a:r>
            <a:r>
              <a:rPr sz="3200" dirty="0"/>
              <a:t>of the Platform</a:t>
            </a:r>
          </a:p>
        </p:txBody>
      </p:sp>
      <p:sp>
        <p:nvSpPr>
          <p:cNvPr id="3" name="TextBox 2"/>
          <p:cNvSpPr txBox="1"/>
          <p:nvPr/>
        </p:nvSpPr>
        <p:spPr>
          <a:xfrm>
            <a:off x="731520" y="2020389"/>
            <a:ext cx="7772400" cy="4389120"/>
          </a:xfrm>
          <a:prstGeom prst="rect">
            <a:avLst/>
          </a:prstGeom>
          <a:noFill/>
        </p:spPr>
        <p:txBody>
          <a:bodyPr wrap="square">
            <a:spAutoFit/>
          </a:bodyPr>
          <a:lstStyle/>
          <a:p>
            <a:pPr algn="l"/>
            <a:r>
              <a:rPr sz="1700" dirty="0">
                <a:latin typeface="Times New Roman"/>
              </a:rPr>
              <a:t>Step 1: User registers or logs into the platform.</a:t>
            </a:r>
          </a:p>
          <a:p>
            <a:pPr algn="l"/>
            <a:endParaRPr sz="1700" dirty="0">
              <a:latin typeface="Times New Roman"/>
            </a:endParaRPr>
          </a:p>
          <a:p>
            <a:pPr algn="l"/>
            <a:r>
              <a:rPr sz="1700" dirty="0">
                <a:latin typeface="Times New Roman"/>
              </a:rPr>
              <a:t>Step 2: User browses destinations and activities.</a:t>
            </a:r>
          </a:p>
          <a:p>
            <a:pPr algn="l"/>
            <a:endParaRPr sz="1700" dirty="0">
              <a:latin typeface="Times New Roman"/>
            </a:endParaRPr>
          </a:p>
          <a:p>
            <a:pPr algn="l"/>
            <a:r>
              <a:rPr sz="1700" dirty="0">
                <a:latin typeface="Times New Roman"/>
              </a:rPr>
              <a:t>Step 3: User selects an activity and checks details.</a:t>
            </a:r>
          </a:p>
          <a:p>
            <a:pPr algn="l"/>
            <a:endParaRPr sz="1700" dirty="0">
              <a:latin typeface="Times New Roman"/>
            </a:endParaRPr>
          </a:p>
          <a:p>
            <a:pPr algn="l"/>
            <a:r>
              <a:rPr sz="1700" dirty="0">
                <a:latin typeface="Times New Roman"/>
              </a:rPr>
              <a:t>Step 4: Booking request is submitted.</a:t>
            </a:r>
          </a:p>
          <a:p>
            <a:pPr algn="l"/>
            <a:endParaRPr sz="1700" dirty="0">
              <a:latin typeface="Times New Roman"/>
            </a:endParaRPr>
          </a:p>
          <a:p>
            <a:pPr algn="l"/>
            <a:r>
              <a:rPr sz="1700" dirty="0">
                <a:latin typeface="Times New Roman"/>
              </a:rPr>
              <a:t>Step 5: Admin manages bookings and updates activities.</a:t>
            </a:r>
          </a:p>
          <a:p>
            <a:pPr algn="l"/>
            <a:endParaRPr sz="1700" dirty="0">
              <a:latin typeface="Times New Roman"/>
            </a:endParaRPr>
          </a:p>
          <a:p>
            <a:pPr algn="l"/>
            <a:r>
              <a:rPr sz="1700" dirty="0">
                <a:latin typeface="Times New Roman"/>
              </a:rPr>
              <a:t>Step 6: User receives confirmation and booking details.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280160"/>
            <a:ext cx="5306261" cy="584775"/>
          </a:xfrm>
          <a:prstGeom prst="rect">
            <a:avLst/>
          </a:prstGeom>
          <a:noFill/>
        </p:spPr>
        <p:txBody>
          <a:bodyPr wrap="none">
            <a:spAutoFit/>
          </a:bodyPr>
          <a:lstStyle/>
          <a:p>
            <a:pPr>
              <a:defRPr sz="2200" b="1"/>
            </a:pPr>
            <a:r>
              <a:rPr sz="3200"/>
              <a:t>Advantages of the System</a:t>
            </a:r>
          </a:p>
        </p:txBody>
      </p:sp>
      <p:sp>
        <p:nvSpPr>
          <p:cNvPr id="3" name="TextBox 2"/>
          <p:cNvSpPr txBox="1"/>
          <p:nvPr/>
        </p:nvSpPr>
        <p:spPr>
          <a:xfrm>
            <a:off x="731520" y="2074817"/>
            <a:ext cx="7772400" cy="2354491"/>
          </a:xfrm>
          <a:prstGeom prst="rect">
            <a:avLst/>
          </a:prstGeom>
          <a:noFill/>
        </p:spPr>
        <p:txBody>
          <a:bodyPr wrap="square">
            <a:spAutoFit/>
          </a:bodyPr>
          <a:lstStyle/>
          <a:p>
            <a:pPr marL="285750" indent="-285750" algn="l">
              <a:buFont typeface="Arial" panose="020B0604020202020204" pitchFamily="34" charset="0"/>
              <a:buChar char="•"/>
            </a:pPr>
            <a:r>
              <a:rPr lang="en-US" sz="1600" dirty="0"/>
              <a:t>Simple and intuitive user interface </a:t>
            </a:r>
          </a:p>
          <a:p>
            <a:pPr marL="285750" indent="-285750">
              <a:buFont typeface="Arial" panose="020B0604020202020204" pitchFamily="34" charset="0"/>
              <a:buChar char="•"/>
            </a:pPr>
            <a:r>
              <a:rPr lang="en-US" sz="1600" dirty="0"/>
              <a:t>Faster content creation and publishing </a:t>
            </a:r>
          </a:p>
          <a:p>
            <a:pPr marL="285750" indent="-285750">
              <a:buFont typeface="Arial" panose="020B0604020202020204" pitchFamily="34" charset="0"/>
              <a:buChar char="•"/>
            </a:pPr>
            <a:r>
              <a:rPr lang="en-US" sz="1600" dirty="0"/>
              <a:t>Better reader engagement </a:t>
            </a:r>
          </a:p>
          <a:p>
            <a:pPr marL="285750" indent="-285750">
              <a:buFont typeface="Arial" panose="020B0604020202020204" pitchFamily="34" charset="0"/>
              <a:buChar char="•"/>
            </a:pPr>
            <a:r>
              <a:rPr lang="en-US" sz="1600" dirty="0"/>
              <a:t>Organized content using tags and categories </a:t>
            </a:r>
          </a:p>
          <a:p>
            <a:pPr marL="285750" indent="-285750">
              <a:buFont typeface="Arial" panose="020B0604020202020204" pitchFamily="34" charset="0"/>
              <a:buChar char="•"/>
            </a:pPr>
            <a:r>
              <a:rPr lang="en-US" sz="1600" dirty="0"/>
              <a:t>Mobile-friendly and responsive design </a:t>
            </a:r>
          </a:p>
          <a:p>
            <a:pPr marL="285750" indent="-285750">
              <a:buFont typeface="Arial" panose="020B0604020202020204" pitchFamily="34" charset="0"/>
              <a:buChar char="•"/>
            </a:pPr>
            <a:r>
              <a:rPr lang="en-US" sz="1600" dirty="0"/>
              <a:t>Encourages quality long-form writing </a:t>
            </a:r>
          </a:p>
          <a:p>
            <a:pPr marL="285750" indent="-285750">
              <a:buFont typeface="Arial" panose="020B0604020202020204" pitchFamily="34" charset="0"/>
              <a:buChar char="•"/>
            </a:pPr>
            <a:r>
              <a:rPr lang="en-US" sz="1600" dirty="0"/>
              <a:t>Easy access to personalized content </a:t>
            </a:r>
          </a:p>
          <a:p>
            <a:pPr marL="285750" indent="-285750">
              <a:buFont typeface="Arial" panose="020B0604020202020204" pitchFamily="34" charset="0"/>
              <a:buChar char="•"/>
            </a:pPr>
            <a:r>
              <a:rPr lang="en-US" sz="1600" dirty="0"/>
              <a:t>Scalable and customizable platform architecture</a:t>
            </a:r>
          </a:p>
          <a:p>
            <a:pPr marL="285750" indent="-285750" algn="l">
              <a:buFont typeface="Arial" panose="020B0604020202020204" pitchFamily="34" charset="0"/>
              <a:buChar char="•"/>
            </a:pPr>
            <a:endParaRPr sz="1700" dirty="0">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280160"/>
            <a:ext cx="2414444" cy="584775"/>
          </a:xfrm>
          <a:prstGeom prst="rect">
            <a:avLst/>
          </a:prstGeom>
          <a:noFill/>
        </p:spPr>
        <p:txBody>
          <a:bodyPr wrap="none">
            <a:spAutoFit/>
          </a:bodyPr>
          <a:lstStyle/>
          <a:p>
            <a:pPr>
              <a:defRPr sz="2200" b="1"/>
            </a:pPr>
            <a:r>
              <a:rPr sz="3200" dirty="0"/>
              <a:t>Conclusion</a:t>
            </a:r>
          </a:p>
        </p:txBody>
      </p:sp>
      <p:sp>
        <p:nvSpPr>
          <p:cNvPr id="3" name="TextBox 2"/>
          <p:cNvSpPr txBox="1"/>
          <p:nvPr/>
        </p:nvSpPr>
        <p:spPr>
          <a:xfrm>
            <a:off x="731520" y="2151018"/>
            <a:ext cx="7772400" cy="1477328"/>
          </a:xfrm>
          <a:prstGeom prst="rect">
            <a:avLst/>
          </a:prstGeom>
          <a:noFill/>
        </p:spPr>
        <p:txBody>
          <a:bodyPr wrap="square">
            <a:spAutoFit/>
          </a:bodyPr>
          <a:lstStyle/>
          <a:p>
            <a:r>
              <a:rPr lang="en-US" dirty="0"/>
              <a:t>Scribbly provides a modern and user-friendly blogging platform that enhances both writing and reading experiences. By offering clean content publishing, personalized discovery, and interactive community features, it helps writers share quality content effectively while enabling readers to access meaningful and engaging articles easily.</a:t>
            </a:r>
            <a:endParaRPr dirty="0">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56262" y="3124200"/>
            <a:ext cx="3332194" cy="769441"/>
          </a:xfrm>
          <a:prstGeom prst="rect">
            <a:avLst/>
          </a:prstGeom>
          <a:noFill/>
        </p:spPr>
        <p:txBody>
          <a:bodyPr wrap="none">
            <a:spAutoFit/>
          </a:bodyPr>
          <a:lstStyle/>
          <a:p>
            <a:pPr>
              <a:defRPr sz="2200" b="1"/>
            </a:pPr>
            <a:r>
              <a:rPr sz="4400" dirty="0"/>
              <a:t>Thank You</a:t>
            </a:r>
            <a:r>
              <a:rPr lang="en-IN" sz="4400" dirty="0"/>
              <a:t>..</a:t>
            </a:r>
            <a:endParaRPr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34746</TotalTime>
  <Words>506</Words>
  <Application>Microsoft Office PowerPoint</Application>
  <PresentationFormat>On-screen Show (4:3)</PresentationFormat>
  <Paragraphs>86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yashasvi dixit</cp:lastModifiedBy>
  <cp:revision>2300</cp:revision>
  <dcterms:created xsi:type="dcterms:W3CDTF">2010-04-09T07:36:15Z</dcterms:created>
  <dcterms:modified xsi:type="dcterms:W3CDTF">2026-05-14T18:53:25Z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